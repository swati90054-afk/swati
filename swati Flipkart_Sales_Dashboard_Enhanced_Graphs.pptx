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49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1">
                <a:solidFill>
                  <a:srgbClr val="BEE5D8"/>
                </a:solidFill>
                <a:latin typeface="Aptos"/>
              </a:rPr>
              <a:t>DATA STORY •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6858000" cy="1417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800" b="1">
                <a:solidFill>
                  <a:srgbClr val="FAFCFC"/>
                </a:solidFill>
                <a:latin typeface="Aptos"/>
              </a:rPr>
              <a:t>Flipkart Sales
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630936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0">
                <a:solidFill>
                  <a:srgbClr val="BFD0D3"/>
                </a:solidFill>
                <a:latin typeface="Aptos"/>
              </a:rPr>
              <a:t>Enhanced graph types, explained in easy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21792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BFD0D3"/>
                </a:solidFill>
                <a:latin typeface="Aptos"/>
              </a:rPr>
              <a:t>Source: uploaded CSV • 1,000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960120"/>
            <a:ext cx="32461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960120"/>
            <a:ext cx="64008" cy="841248"/>
          </a:xfrm>
          <a:prstGeom prst="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51560"/>
            <a:ext cx="29900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TOTAL ORDER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1261872"/>
            <a:ext cx="29900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₹14.98M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057400"/>
            <a:ext cx="32461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057400"/>
            <a:ext cx="64008" cy="841248"/>
          </a:xfrm>
          <a:prstGeom prst="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148840"/>
            <a:ext cx="29900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TOTAL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359152"/>
            <a:ext cx="29900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1,398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154680"/>
            <a:ext cx="32461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3154680"/>
            <a:ext cx="64008" cy="841248"/>
          </a:xfrm>
          <a:prstGeom prst="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3246120"/>
            <a:ext cx="29900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DISCOUNT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456432"/>
            <a:ext cx="29900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₹1.98M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26480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Each chart answers a different business question.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01 / QUICK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Start with the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The figures below are calculated from the supplied CSV.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841248"/>
          </a:xfrm>
          <a:prstGeom prst="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1,000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64008" cy="841248"/>
          </a:xfrm>
          <a:prstGeom prst="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3736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4767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1,398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64008" cy="841248"/>
          </a:xfrm>
          <a:prstGeom prst="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73736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ORDER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94767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₹14.98M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64008" cy="841248"/>
          </a:xfrm>
          <a:prstGeom prst="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278892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UNIT-PRICE 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299923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₹12.36M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69748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697480"/>
            <a:ext cx="64008" cy="841248"/>
          </a:xfrm>
          <a:prstGeom prst="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78892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DISCOUNT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99923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₹1.98M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697480"/>
            <a:ext cx="3474720" cy="841248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697480"/>
            <a:ext cx="64008" cy="841248"/>
          </a:xfrm>
          <a:prstGeom prst="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788920"/>
            <a:ext cx="3218687" cy="1828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800" b="1">
                <a:solidFill>
                  <a:srgbClr val="BFD0D3"/>
                </a:solidFill>
                <a:latin typeface="Aptos"/>
              </a:rPr>
              <a:t>FINAL UNIT-PRICE 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999232"/>
            <a:ext cx="3218687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FAFCFC"/>
                </a:solidFill>
                <a:latin typeface="Aptos"/>
              </a:rPr>
              <a:t>₹10.38M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77639"/>
            <a:ext cx="10881360" cy="15544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187952"/>
            <a:ext cx="219456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>
                <a:solidFill>
                  <a:srgbClr val="BEE5D8"/>
                </a:solidFill>
                <a:latin typeface="Aptos"/>
              </a:rPr>
              <a:t>Important data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553712"/>
            <a:ext cx="10149840" cy="6583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>
                <a:solidFill>
                  <a:srgbClr val="FAFCFC"/>
                </a:solidFill>
                <a:latin typeface="Aptos"/>
              </a:rPr>
              <a:t>“Sum of Discount_Percent” adds percentage values together. It is not the average discount rate. Also, unit-price sum is not profit; profit requires cost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02 / GRAPH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Horizontal bar chart: order value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this chart compares the total money recorded for each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Longer bars mean higher total order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Electronics is the largest category by a wide margin.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Home &amp; Kitchen is next; remaining categories are much smaller.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Use this to identify which category drives sales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03 / GRAPH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Lollipop chart: quantity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this chart shows which products sold the most units.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antity_lolli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dot marks the number of units for a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Further to the right means more units sold.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Quantity measures volume—not revenue or profit.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Compare this with price/value charts to understand the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04 / GRAPH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Column chart: order value by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compare the total value of orders recorded in each 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ty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Bengaluru has the highest total order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The tallest column means the highest recorded city total.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City totals can reflect order count and order size.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Compare with customer counts before deciding where demand is strongest.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05 / GRAPH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Donut chart: product unit-price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the donut shows how the top products contribute to the summed unit prices.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duc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slice shows one product’s share among the top five.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A larger slice means a larger summed unit-price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This is not a profit share or necessarily order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The chart intentionally focuses on the five highest 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06 / GRAPH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Line chart: monthly order value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follow the line to see how recorded sales value changes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nthl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point represents one month’s order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An upward line means the monthly total increased; downward means it decreased.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Look for peaks and dips to plan campaigns or stock.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One month can change because of order volume or order 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07 / GRAPH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Stacked bar chart: order status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this combines category and order status in one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tu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full bar represents a category’s record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The coloured segments split records by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Compare delivered, returned and cancelled counts across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A high count alone does not show return rate; compare percentages too.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08 / GRAPH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Scatter plot: discount amount vs order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check whether larger discounts tend to appear with larger order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coun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dot is one record/order.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Dots farther right have larger discounts; dots higher up have larger order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A rising pattern can suggest larger orders often receive larger discounts.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Scatter shows association, not proof that discounts cause higher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09 / GRAPH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Heatmap: city ×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the colour grid lets you compare many city-category totals quickly.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ty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Rows are cities; columns are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Darker/lighter intensity indicates lower/higher order value (see scale).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Find city-category combinations with relatively high totals.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This helps spot where a category performs well geographically.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10 / GRAPH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Box plot: discount percentage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this shows the typical discount and how much it varies by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scou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The line inside each box is the median discount.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The box shows the middle half of discount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Longer boxes mean more variation in discount percentages.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Compare categories to see whether discounting is consistent.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11 / GRAPH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Donut chart: payment method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Easy explanation: see which payment methods are used most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6629400" cy="4526280"/>
          </a:xfrm>
          <a:prstGeom prst="round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ymen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45920"/>
            <a:ext cx="6409944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554480"/>
            <a:ext cx="4114800" cy="4526280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37360"/>
            <a:ext cx="3657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1">
                <a:solidFill>
                  <a:srgbClr val="BEE5D8"/>
                </a:solidFill>
                <a:latin typeface="Aptos"/>
              </a:rPr>
              <a:t>How to read this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322576"/>
            <a:ext cx="82296" cy="82296"/>
          </a:xfrm>
          <a:prstGeom prst="roundRect">
            <a:avLst/>
          </a:prstGeom>
          <a:solidFill>
            <a:srgbClr val="E77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212848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Each slice represents a payment method’s share of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081528"/>
            <a:ext cx="82296" cy="82296"/>
          </a:xfrm>
          <a:prstGeom prst="roundRect">
            <a:avLst/>
          </a:prstGeom>
          <a:solidFill>
            <a:srgbClr val="E0C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971800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A larger slice means that method appears more often.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840480"/>
            <a:ext cx="82296" cy="82296"/>
          </a:xfrm>
          <a:prstGeom prst="roundRect">
            <a:avLst/>
          </a:prstGeom>
          <a:solidFill>
            <a:srgbClr val="569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730752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This measures frequency, not payment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4599432"/>
            <a:ext cx="82296" cy="82296"/>
          </a:xfrm>
          <a:prstGeom prst="roundRect">
            <a:avLst/>
          </a:prstGeom>
          <a:solidFill>
            <a:srgbClr val="A07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4489704"/>
            <a:ext cx="3401568" cy="61264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FAFCFC"/>
                </a:solidFill>
                <a:latin typeface="Aptos"/>
              </a:rPr>
              <a:t>Use it to understand customer payment preferences in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BEE5D8"/>
                </a:solidFill>
                <a:latin typeface="Aptos"/>
              </a:rPr>
              <a:t>12 /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600" b="1">
                <a:solidFill>
                  <a:srgbClr val="FAFCFC"/>
                </a:solidFill>
                <a:latin typeface="Aptos"/>
              </a:rPr>
              <a:t>How to choose the right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4747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>
                <a:solidFill>
                  <a:srgbClr val="BFD0D3"/>
                </a:solidFill>
                <a:latin typeface="Aptos"/>
              </a:rPr>
              <a:t>Different graph types answer different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45336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Compare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45336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Which category has the highest value?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39112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Lollipop /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75688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Compare quantities or cities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75688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Which product/city is ahead?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9463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39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Donut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06039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Show shares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39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How is a total divided?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99815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36391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Line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36391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Show change over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36391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When did sales rise or fall?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30168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66744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Stacked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666744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Compare grouped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66744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How do statuses vary by category?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97096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Scatter plot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197096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Check 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97096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Do discount and order value move together?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90871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27447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Heatmap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727447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Compare two dimensions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27447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Which city-category combinations stand out?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21223"/>
            <a:ext cx="10835640" cy="438912"/>
          </a:xfrm>
          <a:prstGeom prst="roundRect">
            <a:avLst/>
          </a:prstGeom>
          <a:solidFill>
            <a:srgbClr val="223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57799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1">
                <a:solidFill>
                  <a:srgbClr val="BEE5D8"/>
                </a:solidFill>
                <a:latin typeface="Aptos"/>
              </a:rPr>
              <a:t>Box plot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257799"/>
            <a:ext cx="301752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FAFCFC"/>
                </a:solidFill>
                <a:latin typeface="Aptos"/>
              </a:rPr>
              <a:t>Show spread and median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257799"/>
            <a:ext cx="4937760" cy="31089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100" b="0">
                <a:solidFill>
                  <a:srgbClr val="BFD0D3"/>
                </a:solidFill>
                <a:latin typeface="Aptos"/>
              </a:rPr>
              <a:t>How much do discounts vary?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80760"/>
            <a:ext cx="1069848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0">
                <a:solidFill>
                  <a:srgbClr val="BFD0D3"/>
                </a:solidFill>
                <a:latin typeface="Aptos"/>
              </a:rPr>
              <a:t>Data source: flipkart_sales_dataset.csv • figures recalculated from the supplied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